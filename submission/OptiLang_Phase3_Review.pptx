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48a5b66f0b4af6" /><Relationship Type="http://schemas.openxmlformats.org/officeDocument/2006/relationships/extended-properties" Target="/docProps/app.xml" Id="R35cf0f403c5843d0" /><Relationship Type="http://schemas.openxmlformats.org/officeDocument/2006/relationships/officeDocument" Target="/ppt/presentation.xml" Id="R01955680b5e746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94dd6a53594650"/>
  </p:sldMasterIdLst>
  <p:notesMasterIdLst>
    <p:notesMasterId xmlns:r="http://schemas.openxmlformats.org/officeDocument/2006/relationships" r:id="R5dfbc34f469d4ca8"/>
  </p:notesMasterIdLst>
  <p:sldIdLst>
    <p:sldId xmlns:r="http://schemas.openxmlformats.org/officeDocument/2006/relationships" id="256" r:id="R4a5570b2ba504dad"/>
    <p:sldId xmlns:r="http://schemas.openxmlformats.org/officeDocument/2006/relationships" id="257" r:id="Rf2cbf3c221fb4369"/>
    <p:sldId xmlns:r="http://schemas.openxmlformats.org/officeDocument/2006/relationships" id="258" r:id="Radbf71a40d6f46db"/>
    <p:sldId xmlns:r="http://schemas.openxmlformats.org/officeDocument/2006/relationships" id="259" r:id="R4f09f4c99a7243b5"/>
    <p:sldId xmlns:r="http://schemas.openxmlformats.org/officeDocument/2006/relationships" id="260" r:id="R2002d287755b4676"/>
    <p:sldId xmlns:r="http://schemas.openxmlformats.org/officeDocument/2006/relationships" id="261" r:id="R824a1f5e4a3448d5"/>
    <p:sldId xmlns:r="http://schemas.openxmlformats.org/officeDocument/2006/relationships" id="262" r:id="R20590789cd114fd7"/>
    <p:sldId xmlns:r="http://schemas.openxmlformats.org/officeDocument/2006/relationships" id="263" r:id="Rd7e42fdbb0324e76"/>
    <p:sldId xmlns:r="http://schemas.openxmlformats.org/officeDocument/2006/relationships" id="264" r:id="Rcc1aa2a5e6024790"/>
    <p:sldId xmlns:r="http://schemas.openxmlformats.org/officeDocument/2006/relationships" id="265" r:id="Raf7e7b52d1604874"/>
    <p:sldId xmlns:r="http://schemas.openxmlformats.org/officeDocument/2006/relationships" id="266" r:id="Rb01f461e70ac4b9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f08d13345b4e6b" /><Relationship Type="http://schemas.openxmlformats.org/officeDocument/2006/relationships/slideMaster" Target="/ppt/slideMasters/slideMaster1.xml" Id="Rad94dd6a53594650" /><Relationship Type="http://schemas.openxmlformats.org/officeDocument/2006/relationships/notesMaster" Target="/ppt/notesMasters/notesMaster1.xml" Id="R5dfbc34f469d4ca8" /><Relationship Type="http://schemas.openxmlformats.org/officeDocument/2006/relationships/presProps" Target="/ppt/presProps.xml" Id="R6ae7d6f178184111" /><Relationship Type="http://schemas.openxmlformats.org/officeDocument/2006/relationships/tableStyles" Target="/ppt/tableStyles.xml" Id="R7c31e412a68b4120" /><Relationship Type="http://schemas.openxmlformats.org/officeDocument/2006/relationships/slide" Target="/ppt/slides/slide1.xml" Id="R4a5570b2ba504dad" /><Relationship Type="http://schemas.openxmlformats.org/officeDocument/2006/relationships/slide" Target="/ppt/slides/slide2.xml" Id="Rf2cbf3c221fb4369" /><Relationship Type="http://schemas.openxmlformats.org/officeDocument/2006/relationships/slide" Target="/ppt/slides/slide3.xml" Id="Radbf71a40d6f46db" /><Relationship Type="http://schemas.openxmlformats.org/officeDocument/2006/relationships/slide" Target="/ppt/slides/slide4.xml" Id="R4f09f4c99a7243b5" /><Relationship Type="http://schemas.openxmlformats.org/officeDocument/2006/relationships/slide" Target="/ppt/slides/slide5.xml" Id="R2002d287755b4676" /><Relationship Type="http://schemas.openxmlformats.org/officeDocument/2006/relationships/slide" Target="/ppt/slides/slide6.xml" Id="R824a1f5e4a3448d5" /><Relationship Type="http://schemas.openxmlformats.org/officeDocument/2006/relationships/slide" Target="/ppt/slides/slide7.xml" Id="R20590789cd114fd7" /><Relationship Type="http://schemas.openxmlformats.org/officeDocument/2006/relationships/slide" Target="/ppt/slides/slide8.xml" Id="Rd7e42fdbb0324e76" /><Relationship Type="http://schemas.openxmlformats.org/officeDocument/2006/relationships/slide" Target="/ppt/slides/slide9.xml" Id="Rcc1aa2a5e6024790" /><Relationship Type="http://schemas.openxmlformats.org/officeDocument/2006/relationships/slide" Target="/ppt/slides/slide10.xml" Id="Raf7e7b52d1604874" /><Relationship Type="http://schemas.openxmlformats.org/officeDocument/2006/relationships/slide" Target="/ppt/slides/slide11.xml" Id="Rb01f461e70ac4b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84bfe1ed384b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f58b65f66f4de9" /><Relationship Type="http://schemas.openxmlformats.org/officeDocument/2006/relationships/notesMaster" Target="/ppt/notesMasters/notesMaster1.xml" Id="Re8d46c58656041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9b8781b4f341f9" /><Relationship Type="http://schemas.openxmlformats.org/officeDocument/2006/relationships/notesMaster" Target="/ppt/notesMasters/notesMaster1.xml" Id="R021624d261e64f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a113906f4b4ec9" /><Relationship Type="http://schemas.openxmlformats.org/officeDocument/2006/relationships/notesMaster" Target="/ppt/notesMasters/notesMaster1.xml" Id="Rd8380043347c48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471d1798514469" /><Relationship Type="http://schemas.openxmlformats.org/officeDocument/2006/relationships/notesMaster" Target="/ppt/notesMasters/notesMaster1.xml" Id="R2ceb85dedd8c44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bb3c3c4e23488d" /><Relationship Type="http://schemas.openxmlformats.org/officeDocument/2006/relationships/notesMaster" Target="/ppt/notesMasters/notesMaster1.xml" Id="R90aa11dd9fa548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2da7d6b8a746c3" /><Relationship Type="http://schemas.openxmlformats.org/officeDocument/2006/relationships/notesMaster" Target="/ppt/notesMasters/notesMaster1.xml" Id="R582e767730a841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99c57418544bdd" /><Relationship Type="http://schemas.openxmlformats.org/officeDocument/2006/relationships/notesMaster" Target="/ppt/notesMasters/notesMaster1.xml" Id="R536d91b1535c42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b3530f3be864a90" /><Relationship Type="http://schemas.openxmlformats.org/officeDocument/2006/relationships/notesMaster" Target="/ppt/notesMasters/notesMaster1.xml" Id="Rb83b19cb1e8448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728f974bae14086" /><Relationship Type="http://schemas.openxmlformats.org/officeDocument/2006/relationships/notesMaster" Target="/ppt/notesMasters/notesMaster1.xml" Id="Rf7725e383b1d44a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f38783e753a43b4" /><Relationship Type="http://schemas.openxmlformats.org/officeDocument/2006/relationships/notesMaster" Target="/ppt/notesMasters/notesMaster1.xml" Id="R043129f22b4a42a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4b6c8b8a0d04920" /><Relationship Type="http://schemas.openxmlformats.org/officeDocument/2006/relationships/notesMaster" Target="/ppt/notesMasters/notesMaster1.xml" Id="Raef20f67ce044e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7ac0728e5c4d4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6e5f6b78424a2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4118bb6ff54d4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036d5ec7bc4e0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bf61be94ae451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042c218bbb4e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232DED-CEE1-4183-B3FA-1D9B2B6383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CED8C13-0333-4BC4-BD07-841D23F8A4F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62102CC-FB10-44E0-8F00-9BF4FB75FF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1E7429F-ADC6-4B4D-89CB-FAC9447C73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D35CC6E-683F-4B53-A214-A620C93E37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01ADEDE-395F-4946-9AD5-3749FEC422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9ABCE67-BE63-462F-80DB-C30EDA6C13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43BC483-3B1D-4F10-8D3A-7CD9CC15E12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EB8E0B-B7D3-46C4-986C-EF9EA9C4AC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CCEBF9D-1B75-4FA3-A93D-48CC17CB92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8102db2ba744fa" /><Relationship Type="http://schemas.openxmlformats.org/officeDocument/2006/relationships/slideLayout" Target="/ppt/slideLayouts/slideLayout1.xml" Id="Radb508053e254207" /><Relationship Type="http://schemas.openxmlformats.org/officeDocument/2006/relationships/slideLayout" Target="/ppt/slideLayouts/slideLayout2.xml" Id="R96d7dc95427f4466" /><Relationship Type="http://schemas.openxmlformats.org/officeDocument/2006/relationships/slideLayout" Target="/ppt/slideLayouts/slideLayout3.xml" Id="R2a1afc52540c42bc" /><Relationship Type="http://schemas.openxmlformats.org/officeDocument/2006/relationships/slideLayout" Target="/ppt/slideLayouts/slideLayout4.xml" Id="R4c5d83c0658548cd" /><Relationship Type="http://schemas.openxmlformats.org/officeDocument/2006/relationships/slideLayout" Target="/ppt/slideLayouts/slideLayout5.xml" Id="Rde3b3a2340f240cf" /><Relationship Type="http://schemas.openxmlformats.org/officeDocument/2006/relationships/slideLayout" Target="/ppt/slideLayouts/slideLayout6.xml" Id="Rdd04dbd3e98449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b508053e254207"/>
    <p:sldLayoutId xmlns:r="http://schemas.openxmlformats.org/officeDocument/2006/relationships" id="2147483650" r:id="R96d7dc95427f4466"/>
    <p:sldLayoutId xmlns:r="http://schemas.openxmlformats.org/officeDocument/2006/relationships" id="2147483651" r:id="R2a1afc52540c42bc"/>
    <p:sldLayoutId xmlns:r="http://schemas.openxmlformats.org/officeDocument/2006/relationships" id="2147483652" r:id="R4c5d83c0658548cd"/>
    <p:sldLayoutId xmlns:r="http://schemas.openxmlformats.org/officeDocument/2006/relationships" id="2147483653" r:id="Rde3b3a2340f240cf"/>
    <p:sldLayoutId xmlns:r="http://schemas.openxmlformats.org/officeDocument/2006/relationships" id="2147483654" r:id="Rdd04dbd3e98449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d04834cb7e4507" /><Relationship Type="http://schemas.openxmlformats.org/officeDocument/2006/relationships/notesSlide" Target="/ppt/notesSlides/notesSlide1.xml" Id="R32757839a2f24f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56ecd508364eea" /><Relationship Type="http://schemas.openxmlformats.org/officeDocument/2006/relationships/notesSlide" Target="/ppt/notesSlides/notesSlide2.xml" Id="R244a82840e5b4b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7555d807c4400c" /><Relationship Type="http://schemas.openxmlformats.org/officeDocument/2006/relationships/notesSlide" Target="/ppt/notesSlides/notesSlide3.xml" Id="Rcebc2d39e4bc43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c9f2d0e0ce4c5b" /><Relationship Type="http://schemas.openxmlformats.org/officeDocument/2006/relationships/notesSlide" Target="/ppt/notesSlides/notesSlide4.xml" Id="R26c33c6605b244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08dbeb36c343a2" /><Relationship Type="http://schemas.openxmlformats.org/officeDocument/2006/relationships/notesSlide" Target="/ppt/notesSlides/notesSlide5.xml" Id="R9c7f1793edf146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c65a00b36a4247" /><Relationship Type="http://schemas.openxmlformats.org/officeDocument/2006/relationships/notesSlide" Target="/ppt/notesSlides/notesSlide6.xml" Id="R40aa042adbb048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0831d6ef534f6a" /><Relationship Type="http://schemas.openxmlformats.org/officeDocument/2006/relationships/notesSlide" Target="/ppt/notesSlides/notesSlide7.xml" Id="Rba98740efa0649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6c5f4692f74e0d" /><Relationship Type="http://schemas.openxmlformats.org/officeDocument/2006/relationships/notesSlide" Target="/ppt/notesSlides/notesSlide8.xml" Id="R49178ba2e69a46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accbc2d87d4a4f" /><Relationship Type="http://schemas.openxmlformats.org/officeDocument/2006/relationships/notesSlide" Target="/ppt/notesSlides/notesSlide9.xml" Id="Rc4c1c798f2e54bc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d7f73927834fbe" /><Relationship Type="http://schemas.openxmlformats.org/officeDocument/2006/relationships/notesSlide" Target="/ppt/notesSlides/notesSlide10.xml" Id="Rf365c6a4db29492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18dfe0cff14e59" /><Relationship Type="http://schemas.openxmlformats.org/officeDocument/2006/relationships/notesSlide" Target="/ppt/notesSlides/notesSlide11.xml" Id="R810dc83ce24644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0A6096-B6C9-4DB5-B0F1-73BA4DE2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3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ECE12D-FF76-456C-919A-2AE6F7F3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0125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275" b="1">
                <a:solidFill>
                  <a:srgbClr val="90D7D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1">
                <a:solidFill>
                  <a:srgbClr val="90D7D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1">
                <a:solidFill>
                  <a:srgbClr val="90D7D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1">
                <a:solidFill>
                  <a:srgbClr val="90D7D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1">
                <a:solidFill>
                  <a:srgbClr val="90D7D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1">
                <a:solidFill>
                  <a:srgbClr val="90D7D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1">
                <a:solidFill>
                  <a:srgbClr val="90D7D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1">
                <a:solidFill>
                  <a:srgbClr val="90D7D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1">
                <a:solidFill>
                  <a:srgbClr val="90D7D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1">
                <a:solidFill>
                  <a:srgbClr val="90D7D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90D7D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90D7D2"/>
                </a:solidFill>
                <a:latin typeface="DejaVu Sans"/>
                <a:ea typeface="DejaVu Sans"/>
                <a:cs typeface="DejaVu Sans"/>
              </a:rPr>
              <a:t>COMPILER DESIGN LABORATORY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B9E8BD-72E5-4C2A-9DFC-2C9EFE07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10001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49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49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49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49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49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49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49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49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49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49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9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OptiLang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71931D-9A12-44D7-A969-9DD1F72B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886075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D5E6E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D5E6E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D5E6E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D5E6E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D5E6E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D5E6E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D5E6E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D5E6E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D5E6E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D5E6E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D5E6E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D5E6EB"/>
                </a:solidFill>
                <a:latin typeface="DejaVu Sans"/>
                <a:ea typeface="DejaVu Sans"/>
                <a:cs typeface="DejaVu Sans"/>
              </a:rPr>
              <a:t>A visual compiler and optimization explorer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8237B8-1D89-477B-89D7-A7575DA1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9052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Phase 3 final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9D2071-E62F-4CCD-B73A-960988D9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010150"/>
            <a:ext cx="9239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D5E6E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D5E6E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D5E6E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D5E6E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D5E6E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D5E6E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D5E6E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D5E6E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D5E6E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D5E6E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D5E6E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D5E6EB"/>
                </a:solidFill>
                <a:latin typeface="DejaVu Sans"/>
                <a:ea typeface="DejaVu Sans"/>
                <a:cs typeface="DejaVu Sans"/>
              </a:rPr>
              <a:t>Shourya Saraf  ·  24BDS0391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7F66B3-E376-4B26-89C7-9BF428B4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410200"/>
            <a:ext cx="9429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D5E6E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D5E6E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D5E6E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D5E6E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D5E6E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D5E6E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D5E6E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D5E6E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D5E6E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D5E6E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D5E6E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D5E6EB"/>
                </a:solidFill>
                <a:latin typeface="DejaVu Sans"/>
                <a:ea typeface="DejaVu Sans"/>
                <a:cs typeface="DejaVu Sans"/>
              </a:rPr>
              <a:t>Faculty: Ranjithkumar S  ·  2026–27</a:t>
            </a:r>
          </a:p>
        </p:txBody>
      </p:sp>
    </p:spTree>
    <p:extLst>
      <p:ext uri="{BB962C8B-B14F-4D97-AF65-F5344CB8AC3E}">
        <p14:creationId xmlns:p14="http://schemas.microsoft.com/office/powerpoint/2010/main" val="19275236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1159CE-F0F1-409F-93B3-00107547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3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5E46C8-72C5-4328-8121-767928A2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rPr>
              <a:t>PHASE 3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772D65-8563-41D9-8362-EA434C34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10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rPr>
              <a:t>Problem and objective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C2E7E3-B7DF-44AA-A940-3F85A52D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rPr>
              <a:t>OptiLang  ·  Shourya Saraf  · 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AB15A8-3201-481C-8C72-3F2E5041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025" b="1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83047"/>
                </a:solidFill>
                <a:latin typeface="DejaVu Sans"/>
                <a:ea typeface="DejaVu Sans"/>
                <a:cs typeface="DejaVu Sans"/>
              </a:rPr>
              <a:t>Compiler stages are hard to connect when each appears in a different tool.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B13BDE-2168-402D-A6FB-9A4582C9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83047"/>
                </a:solidFill>
                <a:latin typeface="DejaVu Sans"/>
                <a:ea typeface="DejaVu Sans"/>
                <a:cs typeface="DejaVu Sans"/>
              </a:rPr>
              <a:t>OptiLang shows how one source program becomes tokens, an AST, intermediate code and executable bytecode.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4A8867-596A-436F-A83A-D3607D33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43425"/>
            <a:ext cx="1076325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BBB368-425C-42E4-8B2E-1A9DF33B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762500"/>
            <a:ext cx="157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46C94"/>
                </a:solidFill>
                <a:latin typeface="DejaVu Sans"/>
                <a:ea typeface="DejaVu Sans"/>
                <a:cs typeface="DejaVu Sans"/>
              </a:rPr>
              <a:t>Goal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EED9F9-F39E-40D9-8D23-4128788A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705350"/>
            <a:ext cx="8524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rPr>
              <a:t>Inspect transformations and check that the program still produces the same result.</a:t>
            </a:r>
          </a:p>
        </p:txBody>
      </p:sp>
    </p:spTree>
    <p:extLst>
      <p:ext uri="{BB962C8B-B14F-4D97-AF65-F5344CB8AC3E}">
        <p14:creationId xmlns:p14="http://schemas.microsoft.com/office/powerpoint/2010/main" val="14104216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0FDE66-DCEF-4018-8187-110172F6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3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E4D919-A49F-43AB-ABF5-5F6FCE0F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rPr>
              <a:t>PHASE 3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5D26CF-A141-4D22-9871-6D43D9B2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10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rPr>
              <a:t>What Phase 3 adds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6F804B-ED49-4833-80B6-22487B86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rPr>
              <a:t>OptiLang  ·  Shourya Saraf  · 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01E27D-D07B-46FF-814C-CF1A7D51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478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rPr>
              <a:t>Language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46388A-FB37-43F0-BE82-EF79B4A6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847850"/>
            <a:ext cx="7620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rPr>
              <a:t>Reassignment, while loops, typed functions, calls and returns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298D75-1BF4-4249-B2E3-62C37315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479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rPr>
              <a:t>Analysis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CC3D21-FACF-4505-AF49-D792DF83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847975"/>
            <a:ext cx="7620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rPr>
              <a:t>Control flow graphs for TAC and bytecode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1DFCF7-AF4B-49BA-8188-F863E5EA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481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rPr>
              <a:t>Optimization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F091D7-7D4D-4ADA-B777-73277605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848100"/>
            <a:ext cx="7620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rPr>
              <a:t>Algebraic identities and selected unreachable code removal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0B2ACE-EC86-4049-B376-6E38074D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482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rPr>
              <a:t>Execution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4F42A3-146C-4690-9446-D05D77E7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848225"/>
            <a:ext cx="7620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rPr>
              <a:t>Stack bytecode, bounded VM and an offline HTML explorer</a:t>
            </a:r>
          </a:p>
        </p:txBody>
      </p:sp>
    </p:spTree>
    <p:extLst>
      <p:ext uri="{BB962C8B-B14F-4D97-AF65-F5344CB8AC3E}">
        <p14:creationId xmlns:p14="http://schemas.microsoft.com/office/powerpoint/2010/main" val="984033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58F7B1-2979-49D4-B426-9F4D2109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3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2B4BA1-BD67-4EB9-BDED-276FE989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rPr>
              <a:t>PHASE 3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2092D0-E966-409F-965C-E9AD3ECF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10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rPr>
              <a:t>Compiler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6FB2E2-44DA-43DE-A703-FAB25861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rPr>
              <a:t>OptiLang  ·  Shourya Saraf  · 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D62DC0-0493-438F-9E86-7E8EAB66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828800"/>
            <a:ext cx="31146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5F5AC4-DD89-4EA3-9815-31CA5E6F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14525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5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46C94"/>
                </a:solidFill>
                <a:latin typeface="DejaVu Sans"/>
                <a:ea typeface="DejaVu Sans"/>
                <a:cs typeface="DejaVu Sans"/>
              </a:rPr>
              <a:t>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7A39FF-C17E-4F4E-B544-AD87BC8F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00275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83047"/>
                </a:solidFill>
                <a:latin typeface="DejaVu Sans"/>
                <a:ea typeface="DejaVu Sans"/>
                <a:cs typeface="DejaVu Sans"/>
              </a:rPr>
              <a:t>OptiLang program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781FD3-BFCE-4908-AF26-E8163781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571750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725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7A398"/>
                </a:solidFill>
                <a:latin typeface="DejaVu Sans"/>
                <a:ea typeface="DejaVu Sans"/>
                <a:cs typeface="DejaVu Sans"/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9C7558-2D02-4950-9A16-282A5AE1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828925"/>
            <a:ext cx="31146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305E2A-9F18-4916-AD13-46AE71C5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1465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5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46C94"/>
                </a:solidFill>
                <a:latin typeface="DejaVu Sans"/>
                <a:ea typeface="DejaVu Sans"/>
                <a:cs typeface="DejaVu Sans"/>
              </a:rPr>
              <a:t>Front 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E27006-F1AE-4383-B170-4C4709DD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0040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83047"/>
                </a:solidFill>
                <a:latin typeface="DejaVu Sans"/>
                <a:ea typeface="DejaVu Sans"/>
                <a:cs typeface="DejaVu Sans"/>
              </a:rPr>
              <a:t>Tokens, AST, types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4DFE47-2104-43F1-8C23-F5042DE8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571875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725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7A398"/>
                </a:solidFill>
                <a:latin typeface="DejaVu Sans"/>
                <a:ea typeface="DejaVu Sans"/>
                <a:cs typeface="DejaVu Sans"/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9232B2-4E79-4316-B862-6A2B56D1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829050"/>
            <a:ext cx="31146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A36377-111C-4D3A-94CA-777C869F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14775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5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46C94"/>
                </a:solidFill>
                <a:latin typeface="DejaVu Sans"/>
                <a:ea typeface="DejaVu Sans"/>
                <a:cs typeface="DejaVu Sans"/>
              </a:rPr>
              <a:t>Optimization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47C275-E91B-4559-B307-211127D6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00525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83047"/>
                </a:solidFill>
                <a:latin typeface="DejaVu Sans"/>
                <a:ea typeface="DejaVu Sans"/>
                <a:cs typeface="DejaVu Sans"/>
              </a:rPr>
              <a:t>Rewritten AST, TAC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B501EC-0EE9-4503-8834-E55B1DF0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572000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725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7A398"/>
                </a:solidFill>
                <a:latin typeface="DejaVu Sans"/>
                <a:ea typeface="DejaVu Sans"/>
                <a:cs typeface="DejaVu Sans"/>
              </a:rPr>
              <a:t>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ED749F-2DA4-42D0-B8AC-184FC763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829175"/>
            <a:ext cx="31146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454D65-82FC-4169-ADDA-214D1432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1490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5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46C94"/>
                </a:solidFill>
                <a:latin typeface="DejaVu Sans"/>
                <a:ea typeface="DejaVu Sans"/>
                <a:cs typeface="DejaVu Sans"/>
              </a:rPr>
              <a:t>Back end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C5FB0A-A0AF-4366-A782-0DDBE6B4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006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83047"/>
                </a:solidFill>
                <a:latin typeface="DejaVu Sans"/>
                <a:ea typeface="DejaVu Sans"/>
                <a:cs typeface="DejaVu Sans"/>
              </a:rPr>
              <a:t>Bytecode, VM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659820-D4F8-45C6-8AB2-D154AEAD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9812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025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1243A"/>
                </a:solidFill>
                <a:latin typeface="DejaVu Sans"/>
                <a:ea typeface="DejaVu Sans"/>
                <a:cs typeface="DejaVu Sans"/>
              </a:rPr>
              <a:t>Inspectable outputs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920F7B-346A-4576-9D62-7C15B8A6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81275"/>
            <a:ext cx="65722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rPr>
              <a:t>Original and optimized TAC with basic blocks</a:t>
            </a:r>
          </a:p>
          <a:p xmlns:a="http://schemas.openxmlformats.org/drawingml/2006/main">
            <a:pPr>
              <a:def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rPr>
              <a:t>Optimization record</a:t>
            </a:r>
          </a:p>
          <a:p xmlns:a="http://schemas.openxmlformats.org/drawingml/2006/main">
            <a:pPr>
              <a:def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rPr>
              <a:t>Bytecode and VM trace</a:t>
            </a:r>
          </a:p>
          <a:p xmlns:a="http://schemas.openxmlformats.org/drawingml/2006/main">
            <a:pPr>
              <a:def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rPr>
              <a:t>Runtime output and validation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69C83C-3F77-4A37-B33D-478EE361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514975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77084"/>
                </a:solidFill>
                <a:latin typeface="DejaVu Sans"/>
                <a:ea typeface="DejaVu Sans"/>
                <a:cs typeface="DejaVu Sans"/>
              </a:rPr>
              <a:t>The bytecode compiler lowers the optimized AST directly.</a:t>
            </a:r>
          </a:p>
        </p:txBody>
      </p:sp>
    </p:spTree>
    <p:extLst>
      <p:ext uri="{BB962C8B-B14F-4D97-AF65-F5344CB8AC3E}">
        <p14:creationId xmlns:p14="http://schemas.microsoft.com/office/powerpoint/2010/main" val="17133827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F7A009-E054-450C-BFE2-93BEB748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3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ECDDE1-A5F3-4CE8-AEE3-995B3922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rPr>
              <a:t>PHASE 3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B083B-E4B7-4E07-A950-168A80BA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10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rPr>
              <a:t>Language and static checks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FA4ECB-D12B-491E-977A-E15FFB90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rPr>
              <a:t>OptiLang  ·  Shourya Saraf  ·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7D5C51-1CB1-4BBF-8DD8-1FAFF04E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rPr>
              <a:t>Types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75A943-12F6-4726-A078-7BF3CA75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809750"/>
            <a:ext cx="7620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rPr>
              <a:t>int, float, bool and string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C24A70-DB7A-488D-ABD1-1CC91415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908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rPr>
              <a:t>Statements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75906A-F796-47F6-B486-716238A1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790825"/>
            <a:ext cx="7620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rPr>
              <a:t>let, reassignment, print, if / else, while and return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EF29D1-C755-47C8-9083-B19A88E0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719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rPr>
              <a:t>Functions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D636DB-CB33-4B0B-ABC6-31221A56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771900"/>
            <a:ext cx="7620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rPr>
              <a:t>Typed parameters, recursive and forward calls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B66A21-E827-40A0-A2E2-D9835C06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529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46C94"/>
                </a:solidFill>
                <a:latin typeface="DejaVu Sans"/>
                <a:ea typeface="DejaVu Sans"/>
                <a:cs typeface="DejaVu Sans"/>
              </a:rPr>
              <a:t>Diagnostics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793CCF-2E42-4980-9989-051045EA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52975"/>
            <a:ext cx="7620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rPr>
              <a:t>Undefined names, type errors, bad calls and missing returns</a:t>
            </a:r>
          </a:p>
        </p:txBody>
      </p:sp>
    </p:spTree>
    <p:extLst>
      <p:ext uri="{BB962C8B-B14F-4D97-AF65-F5344CB8AC3E}">
        <p14:creationId xmlns:p14="http://schemas.microsoft.com/office/powerpoint/2010/main" val="11030006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7098DF-B637-4452-B4D5-0435287A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3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AEC51C-8250-4BB9-9A43-8D11640B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rPr>
              <a:t>PHASE 3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0C3F13-0243-4E32-A9EB-BA22C929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10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rPr>
              <a:t>One program, end to 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3A6118-ECD6-4CC1-B279-684558CA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rPr>
              <a:t>OptiLang  ·  Shourya Saraf  · 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6721BD-05CA-4AC7-A4A3-E0FCAB7E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7096125" cy="397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A134D1-93E3-4CE3-B2CF-F76D24DF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76425"/>
            <a:ext cx="66294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F4FAFC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425" b="0">
                <a:solidFill>
                  <a:srgbClr val="F4FAFC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425" b="0">
                <a:solidFill>
                  <a:srgbClr val="F4FAFC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425" b="0">
                <a:solidFill>
                  <a:srgbClr val="F4FAFC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425" b="0">
                <a:solidFill>
                  <a:srgbClr val="F4FAFC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425" b="0">
                <a:solidFill>
                  <a:srgbClr val="F4FAFC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425" b="0">
                <a:solidFill>
                  <a:srgbClr val="F4FAFC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425" b="0">
                <a:solidFill>
                  <a:srgbClr val="F4FAFC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425" b="0">
                <a:solidFill>
                  <a:srgbClr val="F4FAFC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425" b="0">
                <a:solidFill>
                  <a:srgbClr val="F4FAFC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4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F4FAFC"/>
                </a:solidFill>
                <a:latin typeface="DejaVu Sans Mono"/>
                <a:ea typeface="DejaVu Sans Mono"/>
                <a:cs typeface="DejaVu Sans Mono"/>
              </a:rPr>
              <a:t>fn factorial(n: int): int {</a:t>
            </a:r>
          </a:p>
          <a:p xmlns:a="http://schemas.openxmlformats.org/drawingml/2006/main">
            <a:pPr>
              <a:defRPr sz="1425" b="0">
                <a:solidFill>
                  <a:srgbClr val="F4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F4FAFC"/>
                </a:solidFill>
                <a:latin typeface="DejaVu Sans Mono"/>
                <a:ea typeface="DejaVu Sans Mono"/>
                <a:cs typeface="DejaVu Sans Mono"/>
              </a:rPr>
              <a:t>    if (n &lt;= 1) { return 1; }</a:t>
            </a:r>
          </a:p>
          <a:p xmlns:a="http://schemas.openxmlformats.org/drawingml/2006/main">
            <a:pPr>
              <a:defRPr sz="1425" b="0">
                <a:solidFill>
                  <a:srgbClr val="F4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F4FAFC"/>
                </a:solidFill>
                <a:latin typeface="DejaVu Sans Mono"/>
                <a:ea typeface="DejaVu Sans Mono"/>
                <a:cs typeface="DejaVu Sans Mono"/>
              </a:rPr>
              <a:t>    else { return n * factorial(n - 1); }</a:t>
            </a:r>
          </a:p>
          <a:p xmlns:a="http://schemas.openxmlformats.org/drawingml/2006/main">
            <a:pPr>
              <a:defRPr sz="1425" b="0">
                <a:solidFill>
                  <a:srgbClr val="F4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F4FAFC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  <a:p xmlns:a="http://schemas.openxmlformats.org/drawingml/2006/main">
            <a:pPr>
              <a:defRPr sz="1425" b="0">
                <a:solidFill>
                  <a:srgbClr val="F4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F4FAFC"/>
                </a:solidFill>
                <a:latin typeface="DejaVu Sans Mono"/>
                <a:ea typeface="DejaVu Sans Mono"/>
                <a:cs typeface="DejaVu Sans Mono"/>
              </a:rPr>
              <a:t>let count: int = 0;</a:t>
            </a:r>
          </a:p>
          <a:p xmlns:a="http://schemas.openxmlformats.org/drawingml/2006/main">
            <a:pPr>
              <a:defRPr sz="1425" b="0">
                <a:solidFill>
                  <a:srgbClr val="F4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F4FAFC"/>
                </a:solidFill>
                <a:latin typeface="DejaVu Sans Mono"/>
                <a:ea typeface="DejaVu Sans Mono"/>
                <a:cs typeface="DejaVu Sans Mono"/>
              </a:rPr>
              <a:t>while (count &lt; 5) { count = count + 1; }</a:t>
            </a:r>
          </a:p>
          <a:p xmlns:a="http://schemas.openxmlformats.org/drawingml/2006/main">
            <a:pPr>
              <a:defRPr sz="1425" b="0">
                <a:solidFill>
                  <a:srgbClr val="F4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F4FAFC"/>
                </a:solidFill>
                <a:latin typeface="DejaVu Sans Mono"/>
                <a:ea typeface="DejaVu Sans Mono"/>
                <a:cs typeface="DejaVu Sans Mono"/>
              </a:rPr>
              <a:t>let answer: int = factorial(count) + 0;</a:t>
            </a:r>
          </a:p>
          <a:p xmlns:a="http://schemas.openxmlformats.org/drawingml/2006/main">
            <a:pPr>
              <a:defRPr sz="1425" b="0">
                <a:solidFill>
                  <a:srgbClr val="F4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F4FAFC"/>
                </a:solidFill>
                <a:latin typeface="DejaVu Sans Mono"/>
                <a:ea typeface="DejaVu Sans Mono"/>
                <a:cs typeface="DejaVu Sans Mono"/>
              </a:rPr>
              <a:t>print(answer);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761442-EF0F-4379-BF85-0209AC5C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105025"/>
            <a:ext cx="2209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4200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4200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4200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4200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4200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4200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4200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4200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4200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4200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pPr>
            <a:r>
              <a:rPr sz="4200" b="1">
                <a:solidFill>
                  <a:srgbClr val="17A398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9AAD36-D416-46B9-B8E7-26AA24FF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867025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77084"/>
                </a:solidFill>
                <a:latin typeface="DejaVu Sans"/>
                <a:ea typeface="DejaVu Sans"/>
                <a:cs typeface="DejaVu Sans"/>
              </a:rPr>
              <a:t>loop result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D249AE-9CF9-47D1-B838-0294850D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838575"/>
            <a:ext cx="2609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45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45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45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45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45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45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45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45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45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45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pPr>
            <a:r>
              <a:rPr sz="4500" b="1">
                <a:solidFill>
                  <a:srgbClr val="11243A"/>
                </a:solidFill>
                <a:latin typeface="DejaVu Sans"/>
                <a:ea typeface="DejaVu Sans"/>
                <a:cs typeface="DejaVu Sans"/>
              </a:rPr>
              <a:t>120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223FE3-5A46-48E0-9253-827FEFFD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6577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77084"/>
                </a:solidFill>
                <a:latin typeface="DejaVu Sans"/>
                <a:ea typeface="DejaVu Sans"/>
                <a:cs typeface="DejaVu Sans"/>
              </a:rPr>
              <a:t>printed output</a:t>
            </a:r>
          </a:p>
        </p:txBody>
      </p:sp>
    </p:spTree>
    <p:extLst>
      <p:ext uri="{BB962C8B-B14F-4D97-AF65-F5344CB8AC3E}">
        <p14:creationId xmlns:p14="http://schemas.microsoft.com/office/powerpoint/2010/main" val="19462511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B1A424-84A8-4438-B17A-639AE281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3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7F94A0-9B5D-45A0-A7A2-A01C7A23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rPr>
              <a:t>PHASE 3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6910F0-E822-4A2B-8843-68C7C8B9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10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rPr>
              <a:t>Optimization with an audit trail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575B04-F3A6-4E2E-9EDC-E023ED8F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rPr>
              <a:t>OptiLang  ·  Shourya Saraf  · 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9F767B-6AB3-4134-B3DB-4F5897E3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8304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2325" b="1">
                <a:solidFill>
                  <a:srgbClr val="18304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2325" b="1">
                <a:solidFill>
                  <a:srgbClr val="18304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2325" b="1">
                <a:solidFill>
                  <a:srgbClr val="18304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2325" b="1">
                <a:solidFill>
                  <a:srgbClr val="18304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2325" b="1">
                <a:solidFill>
                  <a:srgbClr val="18304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2325" b="1">
                <a:solidFill>
                  <a:srgbClr val="18304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2325" b="1">
                <a:solidFill>
                  <a:srgbClr val="18304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2325" b="1">
                <a:solidFill>
                  <a:srgbClr val="18304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2325" b="1">
                <a:solidFill>
                  <a:srgbClr val="18304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830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325" b="1">
                <a:solidFill>
                  <a:srgbClr val="183047"/>
                </a:solidFill>
                <a:latin typeface="DejaVu Sans Mono"/>
                <a:ea typeface="DejaVu Sans Mono"/>
                <a:cs typeface="DejaVu Sans Mono"/>
              </a:rPr>
              <a:t>Example: factorial(count) + 0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716146-9247-40D4-B3CE-FD479350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83047"/>
                </a:solidFill>
                <a:latin typeface="DejaVu Sans"/>
                <a:ea typeface="DejaVu Sans"/>
                <a:cs typeface="DejaVu Sans"/>
              </a:rPr>
              <a:t>The numeric + 0 identity removes the redundant operation.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1F1D65-28F9-4FB3-8FF3-50B7D8FF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38600"/>
            <a:ext cx="10744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01284C-9BE5-4772-BC38-2D183FCF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25767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46C94"/>
                </a:solidFill>
                <a:latin typeface="DejaVu Sans"/>
                <a:ea typeface="DejaVu Sans"/>
                <a:cs typeface="DejaVu Sans"/>
              </a:rPr>
              <a:t>Recorded rule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491C9F-39A7-42AF-B74C-16E6F665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648200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5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83047"/>
                </a:solidFill>
                <a:latin typeface="DejaVu Sans"/>
                <a:ea typeface="DejaVu Sans"/>
                <a:cs typeface="DejaVu Sans"/>
              </a:rPr>
              <a:t>The explorer lists each rewrite and the source operator location for expression changes.</a:t>
            </a:r>
          </a:p>
        </p:txBody>
      </p:sp>
    </p:spTree>
    <p:extLst>
      <p:ext uri="{BB962C8B-B14F-4D97-AF65-F5344CB8AC3E}">
        <p14:creationId xmlns:p14="http://schemas.microsoft.com/office/powerpoint/2010/main" val="3489334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B13F30-9A73-4CBA-8E8D-964905AF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3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62D956-2CAF-4449-AB94-98DCA9A3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rPr>
              <a:t>PHASE 3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60890-C75A-4B20-928E-CF6CA329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10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rPr>
              <a:t>Control flow and bytecode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CF269E-8A22-41C7-9F48-14262391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rPr>
              <a:t>OptiLang  ·  Shourya Saraf  · 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7B116C-726E-4429-B00F-13F85059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14525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83047"/>
                </a:solidFill>
                <a:latin typeface="DejaVu Sans"/>
                <a:ea typeface="DejaVu Sans"/>
                <a:cs typeface="DejaVu Sans"/>
              </a:rPr>
              <a:t>TAC groups instructions into basic blocks with successors.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4EAF3A-8F2E-4AF4-8A74-0530B86D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28925"/>
            <a:ext cx="10668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83047"/>
                </a:solidFill>
                <a:latin typeface="DejaVu Sans"/>
                <a:ea typeface="DejaVu Sans"/>
                <a:cs typeface="DejaVu Sans"/>
              </a:rPr>
              <a:t>The stack VM executes jumps, calls, returns and short circuit Boolean expressions.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F09D8C-0C89-4EB0-871C-A8719829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91000"/>
            <a:ext cx="10734675" cy="1209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5EFA54-CED6-4FE8-97AE-8DCA6A05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0075"/>
            <a:ext cx="290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46C94"/>
                </a:solidFill>
                <a:latin typeface="DejaVu Sans"/>
                <a:ea typeface="DejaVu Sans"/>
                <a:cs typeface="DejaVu Sans"/>
              </a:rPr>
              <a:t>Bounded execution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473517-1FC2-4D94-8E7E-6B54A3C7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0125"/>
            <a:ext cx="101250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5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83047"/>
                </a:solidFill>
                <a:latin typeface="DejaVu Sans"/>
                <a:ea typeface="DejaVu Sans"/>
                <a:cs typeface="DejaVu Sans"/>
              </a:rPr>
              <a:t>100,000 instructions and 100 call frames by default. Controlled errors stop invalid or runaway programs.</a:t>
            </a:r>
          </a:p>
        </p:txBody>
      </p:sp>
    </p:spTree>
    <p:extLst>
      <p:ext uri="{BB962C8B-B14F-4D97-AF65-F5344CB8AC3E}">
        <p14:creationId xmlns:p14="http://schemas.microsoft.com/office/powerpoint/2010/main" val="6035198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FA6C22-FD1A-4A71-823A-D3121A6F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3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F96297-B3E0-4DDB-94E9-8855B919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rPr>
              <a:t>PHASE 3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E3239C-DB6A-4200-84ED-6CADA33C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10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rPr>
              <a:t>How correctness is checked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5FA55E-5C15-4782-85DA-09D88B0A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rPr>
              <a:t>OptiLang  ·  Shourya Saraf  · 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8EA112-60CE-4623-9C69-E8BBAB34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19300"/>
            <a:ext cx="61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550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550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550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550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550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550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550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550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550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7A398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6AF4BB-C33D-48C1-AC91-963EFFDD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193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83047"/>
                </a:solidFill>
                <a:latin typeface="DejaVu Sans"/>
                <a:ea typeface="DejaVu Sans"/>
                <a:cs typeface="DejaVu Sans"/>
              </a:rPr>
              <a:t>Original AST interpreter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F10F47-4526-44AF-B187-0A1A740B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971800"/>
            <a:ext cx="61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550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550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550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550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550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550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550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550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550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7A398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8752B3-A59A-4C18-80C6-EE3AFF5A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71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83047"/>
                </a:solidFill>
                <a:latin typeface="DejaVu Sans"/>
                <a:ea typeface="DejaVu Sans"/>
                <a:cs typeface="DejaVu Sans"/>
              </a:rPr>
              <a:t>Optimized AST interpreter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AABA8F-FF88-4C7E-BB39-7D92F0E3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924300"/>
            <a:ext cx="61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550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550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550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550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550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550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550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550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550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A39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7A398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661A31-46E8-47EC-B9D3-8BC5378D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243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83047"/>
                </a:solidFill>
                <a:latin typeface="DejaVu Sans"/>
                <a:ea typeface="DejaVu Sans"/>
                <a:cs typeface="DejaVu Sans"/>
              </a:rPr>
              <a:t>Bytecode virtual machine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F142DA-C095-4D3B-ABFE-25DFFEFC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00650"/>
            <a:ext cx="10715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9058E5-407B-4DA4-B5FE-61949C7E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14950"/>
            <a:ext cx="10144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83047"/>
                </a:solidFill>
                <a:latin typeface="DejaVu Sans"/>
                <a:ea typeface="DejaVu Sans"/>
                <a:cs typeface="DejaVu Sans"/>
              </a:rPr>
              <a:t>The driver compares printed output and final global variables across all three runs.</a:t>
            </a:r>
          </a:p>
        </p:txBody>
      </p:sp>
    </p:spTree>
    <p:extLst>
      <p:ext uri="{BB962C8B-B14F-4D97-AF65-F5344CB8AC3E}">
        <p14:creationId xmlns:p14="http://schemas.microsoft.com/office/powerpoint/2010/main" val="13600201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3B1286-55A2-4455-87FB-77C6A9ED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3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A78291-6454-4587-B62F-CB2E86EF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rPr>
              <a:t>PHASE 3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2E026-C653-4A6D-9601-8CD3C90E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10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rPr>
              <a:t>Validation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B7E8B9-B059-4453-8357-B688D808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rPr>
              <a:t>OptiLang  ·  Shourya Saraf  · 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480A3B-7C76-43BC-B213-6A733234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05000"/>
            <a:ext cx="50958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45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45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45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45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45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45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45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45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45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45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pPr>
            <a:r>
              <a:rPr sz="4500" b="1">
                <a:solidFill>
                  <a:srgbClr val="11243A"/>
                </a:solidFill>
                <a:latin typeface="DejaVu Sans"/>
                <a:ea typeface="DejaVu Sans"/>
                <a:cs typeface="DejaVu Sans"/>
              </a:rPr>
              <a:t>27 / 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4CA06E-BE93-4C3B-BD94-7F191DEC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657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46C94"/>
                </a:solidFill>
                <a:latin typeface="DejaVu Sans"/>
                <a:ea typeface="DejaVu Sans"/>
                <a:cs typeface="DejaVu Sans"/>
              </a:rPr>
              <a:t>automated tests passed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C00606-89F3-4A75-B973-6DA0D75A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05000"/>
            <a:ext cx="333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45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45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45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45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45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45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45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45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45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45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pPr>
            <a:r>
              <a:rPr sz="4500" b="1">
                <a:solidFill>
                  <a:srgbClr val="11243A"/>
                </a:solidFill>
                <a:latin typeface="DejaVu Sans"/>
                <a:ea typeface="DejaVu Sans"/>
                <a:cs typeface="DejaVu Sans"/>
              </a:rPr>
              <a:t>120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A45A7E-0E4D-47AF-93C3-2B9C4A86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194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46C94"/>
                </a:solidFill>
                <a:latin typeface="DejaVu Sans"/>
                <a:ea typeface="DejaVu Sans"/>
                <a:cs typeface="DejaVu Sans"/>
              </a:rPr>
              <a:t>demo output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F867DB-8DBC-46B7-8941-9D5A89AA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7346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3D4BC3-FE19-476C-9305-BD4AFEAC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100774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83047"/>
                </a:solidFill>
                <a:latin typeface="DejaVu Sans"/>
                <a:ea typeface="DejaVu Sans"/>
                <a:cs typeface="DejaVu Sans"/>
              </a:rPr>
              <a:t>The suite exercises recursion, loops, errors, scopes, short circuiting, execution limits and HTML escaping.</a:t>
            </a:r>
          </a:p>
        </p:txBody>
      </p:sp>
    </p:spTree>
    <p:extLst>
      <p:ext uri="{BB962C8B-B14F-4D97-AF65-F5344CB8AC3E}">
        <p14:creationId xmlns:p14="http://schemas.microsoft.com/office/powerpoint/2010/main" val="11207076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0FC22E-1E83-41BB-A9F5-3A0A3A99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3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9AB2D3-0939-437F-B485-9C2DB738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146C94"/>
                </a:solidFill>
                <a:latin typeface="DejaVu Sans"/>
                <a:ea typeface="DejaVu Sans"/>
                <a:cs typeface="DejaVu Sans"/>
              </a:rPr>
              <a:t>PHASE 3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5EEA32-862E-4825-98A7-9B39A75C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10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1243A"/>
                </a:solidFill>
                <a:latin typeface="DejaVu Sans"/>
                <a:ea typeface="DejaVu Sans"/>
                <a:cs typeface="DejaVu Sans"/>
              </a:rPr>
              <a:t>Deliverables and boundaries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25C170-3C45-40D0-9407-AE286B3A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77084"/>
                </a:solidFill>
                <a:latin typeface="DejaVu Sans"/>
                <a:ea typeface="DejaVu Sans"/>
                <a:cs typeface="DejaVu Sans"/>
              </a:rPr>
              <a:t>OptiLang  ·  Shourya Saraf  · 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E0018-542E-46D9-A3EC-433AE1C8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66900"/>
            <a:ext cx="491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02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46C94"/>
                </a:solidFill>
                <a:latin typeface="DejaVu Sans"/>
                <a:ea typeface="DejaVu Sans"/>
                <a:cs typeface="DejaVu Sans"/>
              </a:rPr>
              <a:t>Delivered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93C382-4D8D-430C-B227-B73A8ADB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371725"/>
            <a:ext cx="4819650" cy="2562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rPr>
              <a:t>Source and tests</a:t>
            </a:r>
          </a:p>
          <a:p xmlns:a="http://schemas.openxmlformats.org/drawingml/2006/main">
            <a:pPr>
              <a:def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rPr>
              <a:t>CLI stage output</a:t>
            </a:r>
          </a:p>
          <a:p xmlns:a="http://schemas.openxmlformats.org/drawingml/2006/main">
            <a:pPr>
              <a:def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rPr>
              <a:t>Offline HTML explorer</a:t>
            </a:r>
          </a:p>
          <a:p xmlns:a="http://schemas.openxmlformats.org/drawingml/2006/main">
            <a:pPr>
              <a:def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rPr>
              <a:t>Final report and demo script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D6FB3D-ABCA-47F3-A2D0-4E319F5B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66900"/>
            <a:ext cx="491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02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46C9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46C94"/>
                </a:solidFill>
                <a:latin typeface="DejaVu Sans"/>
                <a:ea typeface="DejaVu Sans"/>
                <a:cs typeface="DejaVu Sans"/>
              </a:rPr>
              <a:t>Current 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87396F-B29D-4358-9697-76138B52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00300"/>
            <a:ext cx="495300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3047"/>
                </a:solidFill>
                <a:latin typeface="DejaVu Sans"/>
                <a:ea typeface="DejaVu Sans"/>
                <a:cs typeface="DejaVu Sans"/>
              </a:rPr>
              <a:t>TAC is inspectable; bytecode lowers from optimized AST. The explorer is a static report. SSA and formal equivalence proofs remain future work.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307AB6-0D5B-498A-82B9-F5096CF1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581650"/>
            <a:ext cx="10620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1">
                <a:solidFill>
                  <a:srgbClr val="11243A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350" b="1">
                <a:solidFill>
                  <a:srgbClr val="11243A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350" b="1">
                <a:solidFill>
                  <a:srgbClr val="11243A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350" b="1">
                <a:solidFill>
                  <a:srgbClr val="11243A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350" b="1">
                <a:solidFill>
                  <a:srgbClr val="11243A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350" b="1">
                <a:solidFill>
                  <a:srgbClr val="11243A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350" b="1">
                <a:solidFill>
                  <a:srgbClr val="11243A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350" b="1">
                <a:solidFill>
                  <a:srgbClr val="11243A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350" b="1">
                <a:solidFill>
                  <a:srgbClr val="11243A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350" b="1">
                <a:solidFill>
                  <a:srgbClr val="11243A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124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11243A"/>
                </a:solidFill>
                <a:latin typeface="DejaVu Sans Mono"/>
                <a:ea typeface="DejaVu Sans Mono"/>
                <a:cs typeface="DejaVu Sans Mono"/>
              </a:rPr>
              <a:t>Demo:  optilang examples/phase3.ol --html phase3-explorer.html</a:t>
            </a:r>
          </a:p>
        </p:txBody>
      </p:sp>
    </p:spTree>
    <p:extLst>
      <p:ext uri="{BB962C8B-B14F-4D97-AF65-F5344CB8AC3E}">
        <p14:creationId xmlns:p14="http://schemas.microsoft.com/office/powerpoint/2010/main" val="12767162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2026-10-22T10:19:06.5370000Z</dcterms:created>
  <dcterms:modified xsi:type="dcterms:W3CDTF">2026-10-22T10:19:06.5370000Z</dcterms:modified>
</coreProperties>
</file>